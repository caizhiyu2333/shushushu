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4000" b="1">
                <a:solidFill>
                  <a:srgbClr val="1A3C6D"/>
                </a:solidFill>
                <a:latin typeface="Microsoft YaHei"/>
              </a:defRPr>
            </a:pPr>
            <a:r>
              <a:t>深入理解CNN与GNN：结构、应用及区别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3200400"/>
            <a:ext cx="3931920" cy="38100"/>
          </a:xfrm>
          <a:prstGeom prst="rect">
            <a:avLst/>
          </a:prstGeom>
          <a:solidFill>
            <a:srgbClr val="1A3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600" b="0">
                <a:solidFill>
                  <a:srgbClr val="2B7AC2"/>
                </a:solidFill>
                <a:latin typeface="Microsoft YaHei"/>
              </a:defRPr>
            </a:pPr>
            <a:r>
              <a:t>AI 教学助手自动生成 | 共约 9 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B7AC2"/>
                </a:solidFill>
                <a:latin typeface="Microsoft YaHe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3000" b="1">
                <a:solidFill>
                  <a:srgbClr val="1A3C6D"/>
                </a:solidFill>
                <a:latin typeface="Microsoft YaHei"/>
              </a:defRPr>
            </a:pPr>
            <a:r>
              <a:t>课程目录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097280"/>
            <a:ext cx="3657600" cy="38100"/>
          </a:xfrm>
          <a:prstGeom prst="rect">
            <a:avLst/>
          </a:prstGeom>
          <a:solidFill>
            <a:srgbClr val="1A3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01  课程介绍与目标设定  (5分钟)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75564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02  卷积神经网络(CNN)基础  (10分钟)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39696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03  图神经网络(GNN)入门  (10分钟)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523744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04  CNN与GNN比较  (10分钟)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9077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05  实践环节：动手实验  (5分钟)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291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06  总结与展望  (5分钟)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B7AC2"/>
                </a:solidFill>
                <a:latin typeface="Microsoft YaHe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01  课程介绍与目标设定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1A3C6D"/>
                </a:solidFill>
                <a:latin typeface="Microsoft YaHei"/>
              </a:defRPr>
            </a:pPr>
            <a:r>
              <a:t>课程介绍与目标设定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2743200" cy="38100"/>
          </a:xfrm>
          <a:prstGeom prst="rect">
            <a:avLst/>
          </a:prstGeom>
          <a:solidFill>
            <a:srgbClr val="1A3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本节课将带领大家探索两种非常重要的神经网络模型——卷积神经网络（Convolutional Neural Networks, CNN）和图神经网络（Graph Neural Networks, GNN）。通过对比这两种模型的基本概念、应用场景以及它们之间的主要差异，我们将更深刻地理解在处理不同类型数据时选择合适模型的重要性。这不仅有助于提高编程技能，还能增强对复杂问题解决能力的理解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B7AC2"/>
                </a:solidFill>
                <a:latin typeface="Microsoft YaHe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02  卷积神经网络(CNN)基础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1A3C6D"/>
                </a:solidFill>
                <a:latin typeface="Microsoft YaHei"/>
              </a:defRPr>
            </a:pPr>
            <a:r>
              <a:t>卷积神经网络(CNN)基础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743200" cy="38100"/>
          </a:xfrm>
          <a:prstGeom prst="rect">
            <a:avLst/>
          </a:prstGeom>
          <a:solidFill>
            <a:srgbClr val="1A3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920240"/>
            <a:ext cx="10058400" cy="502920"/>
          </a:xfrm>
          <a:prstGeom prst="round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76200"/>
          <a:lstStyle/>
          <a:p>
            <a:pPr algn="ctr"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   - 卷积层作用：提取图像局部特征，通过滑动窗口机制实现权重共享，有效减少参数量。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487168"/>
            <a:ext cx="10058400" cy="502920"/>
          </a:xfrm>
          <a:prstGeom prst="round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76200"/>
          <a:lstStyle/>
          <a:p>
            <a:pPr algn="ctr"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   - 池化层功能：降低空间维度，帮助模型识别更加抽象的特征。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054096"/>
            <a:ext cx="10058400" cy="502920"/>
          </a:xfrm>
          <a:prstGeom prst="round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76200"/>
          <a:lstStyle/>
          <a:p>
            <a:pPr algn="ctr"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   - 全连接层角色：将前面层次输出转换为最终分类或回归结果。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621024"/>
            <a:ext cx="10058400" cy="502920"/>
          </a:xfrm>
          <a:prstGeom prst="round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76200"/>
          <a:lstStyle/>
          <a:p>
            <a:pPr algn="ctr"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   - 应用实例：图像分类、物体检测等视觉任务中广泛使用，如VGGNet、ResNet等经典架构。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B7AC2"/>
                </a:solidFill>
                <a:latin typeface="Microsoft YaHe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03  图神经网络(GNN)入门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1A3C6D"/>
                </a:solidFill>
                <a:latin typeface="Microsoft YaHei"/>
              </a:defRPr>
            </a:pPr>
            <a:r>
              <a:t>图神经网络(GNN)入门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2743200" cy="38100"/>
          </a:xfrm>
          <a:prstGeom prst="rect">
            <a:avLst/>
          </a:prstGeom>
          <a:solidFill>
            <a:srgbClr val="1A3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- 图节点表示：每个节点可以代表一个实体，边则表示实体间的关系。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- 消息传递机制：节点之间通过边交换信息以更新其状态，形成新的表示。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- 聚合操作：收集邻居节点的信息，并将其整合到当前节点的状态中。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- 变种类型：包括GCN(图卷积网络)、GAT(图注意力网络)等，适用于不同场景下的图数据处理。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B7AC2"/>
                </a:solidFill>
                <a:latin typeface="Microsoft YaHe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04  CNN与GNN比较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1A3C6D"/>
                </a:solidFill>
                <a:latin typeface="Microsoft YaHei"/>
              </a:defRPr>
            </a:pPr>
            <a:r>
              <a:t>CNN与GNN比较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743200" cy="38100"/>
          </a:xfrm>
          <a:prstGeom prst="rect">
            <a:avLst/>
          </a:prstGeom>
          <a:solidFill>
            <a:srgbClr val="1A3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920240"/>
            <a:ext cx="10058400" cy="502920"/>
          </a:xfrm>
          <a:prstGeom prst="round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76200"/>
          <a:lstStyle/>
          <a:p>
            <a:pPr algn="ctr"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   - 数据类型差异：CNN专为欧几里得空间设计，如图像；而GNN适用于非欧几里得空间，例如社交网络、分子结构等。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487168"/>
            <a:ext cx="10058400" cy="502920"/>
          </a:xfrm>
          <a:prstGeom prst="round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76200"/>
          <a:lstStyle/>
          <a:p>
            <a:pPr algn="ctr"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   - 计算方式不同：前者依赖于固定大小的感受野来捕捉局部特征；后者利用动态调整的感受野来适应不规则形状的数据。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054096"/>
            <a:ext cx="10058400" cy="502920"/>
          </a:xfrm>
          <a:prstGeom prst="round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76200"/>
          <a:lstStyle/>
          <a:p>
            <a:pPr algn="ctr"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   - 应用范围对比：虽然两者都可用于模式识别，但GNN因其灵活性更强，在推荐系统、自然语言处理等领域展现出独特优势。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B7AC2"/>
                </a:solidFill>
                <a:latin typeface="Microsoft YaHe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05  实践环节：动手实验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1A3C6D"/>
                </a:solidFill>
                <a:latin typeface="Microsoft YaHei"/>
              </a:defRPr>
            </a:pPr>
            <a:r>
              <a:t>实践环节：动手实验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743200" cy="38100"/>
          </a:xfrm>
          <a:prstGeom prst="rect">
            <a:avLst/>
          </a:prstGeom>
          <a:solidFill>
            <a:srgbClr val="1A3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920240"/>
            <a:ext cx="10058400" cy="502920"/>
          </a:xfrm>
          <a:prstGeom prst="round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76200"/>
          <a:lstStyle/>
          <a:p>
            <a:pPr algn="ctr"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   通过实际编写代码，尝试构建简单的CNN和GNN模型，分别应用于手写数字识别任务和社交网络分析任务。此部分旨在加深理论知识的理解，并培养解决问题的能力。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B7AC2"/>
                </a:solidFill>
                <a:latin typeface="Microsoft YaHe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06  总结与展望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1A3C6D"/>
                </a:solidFill>
                <a:latin typeface="Microsoft YaHei"/>
              </a:defRPr>
            </a:pPr>
            <a:r>
              <a:t>总结与展望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2743200" cy="38100"/>
          </a:xfrm>
          <a:prstGeom prst="rect">
            <a:avLst/>
          </a:prstGeom>
          <a:solidFill>
            <a:srgbClr val="1A3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回顾今天所学内容，强调掌握CNN与GNN各自特点及其适用领域的重要性。鼓励同学们继续深入研究相关领域，探索更多可能性。同时，提出一些开放性问题供课后思考，激发进一步学习的兴趣。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B7AC2"/>
                </a:solidFill>
                <a:latin typeface="Microsoft YaHe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3000" b="1">
                <a:solidFill>
                  <a:srgbClr val="1A3C6D"/>
                </a:solidFill>
                <a:latin typeface="Microsoft YaHei"/>
              </a:defRPr>
            </a:pPr>
            <a:r>
              <a:t>感谢聆听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2286000"/>
            <a:ext cx="3017520" cy="38100"/>
          </a:xfrm>
          <a:prstGeom prst="rect">
            <a:avLst/>
          </a:prstGeom>
          <a:solidFill>
            <a:srgbClr val="1A3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5603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本节课主要内容已全部呈现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祝教学顺利！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B7AC2"/>
                </a:solidFill>
                <a:latin typeface="Microsoft YaHe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